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332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E5FF"/>
                </a:solidFill>
                <a:latin typeface="Arial"/>
              </a:defRPr>
            </a:pPr>
            <a:r>
              <a:t>ACADEMIC CAPSTONE / COURSE PROJECT — DATA STRUCTURES &amp; ALGORITHMS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55448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8FAFC"/>
                </a:solidFill>
                <a:latin typeface="Arial"/>
              </a:defRPr>
            </a:pPr>
            <a:r>
              <a:t>Decentralized Blockchain Voting System</a:t>
            </a:r>
          </a:p>
          <a:p>
            <a:pPr>
              <a:spcBef>
                <a:spcPts val="800"/>
              </a:spcBef>
              <a:defRPr sz="1800">
                <a:solidFill>
                  <a:srgbClr val="A78BFA"/>
                </a:solidFill>
                <a:latin typeface="Arial"/>
              </a:defRPr>
            </a:pPr>
            <a:r>
              <a:t>A Zero-Trust Electronic Voting Architecture Powered by 25 Data Structures &amp; Algorithms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3291840"/>
            <a:ext cx="3200400" cy="201168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3474720"/>
            <a:ext cx="2834640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0E5FF"/>
                </a:solidFill>
                <a:latin typeface="Arial"/>
              </a:defRPr>
            </a:pPr>
            <a:r>
              <a:t>25 Native DSA Modules</a:t>
            </a:r>
          </a:p>
          <a:p>
            <a:pPr>
              <a:spcAft>
                <a:spcPts val="400"/>
              </a:spcAft>
              <a:defRPr sz="950" b="1">
                <a:solidFill>
                  <a:srgbClr val="FFD166"/>
                </a:solidFill>
                <a:latin typeface="Arial"/>
              </a:defRPr>
            </a:pPr>
            <a:r>
              <a:t>[ALGORITHMIC RIGOR]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Trees, Graphs, Queues &amp; Hash Rings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Zero third-party blockchain libraries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Empirical Big-O verified benchmarks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3291840"/>
            <a:ext cx="3200400" cy="201168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63440" y="3474720"/>
            <a:ext cx="2834640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A78BFA"/>
                </a:solidFill>
                <a:latin typeface="Arial"/>
              </a:defRPr>
            </a:pPr>
            <a:r>
              <a:t>Decentralized Sharding &amp; Consensus</a:t>
            </a:r>
          </a:p>
          <a:p>
            <a:pPr>
              <a:spcAft>
                <a:spcPts val="400"/>
              </a:spcAft>
              <a:defRPr sz="950" b="1">
                <a:solidFill>
                  <a:srgbClr val="FFD166"/>
                </a:solidFill>
                <a:latin typeface="Arial"/>
              </a:defRPr>
            </a:pPr>
            <a:r>
              <a:t>[SYSTEM ARCHITECTURE]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Leader-quorum consensus (Q = 2/3)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Consistent hashing ring (50 replicas)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Fault-tolerant multi-computer P2P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3291840"/>
            <a:ext cx="3200400" cy="201168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3474720"/>
            <a:ext cx="2834640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FFD166"/>
                </a:solidFill>
                <a:latin typeface="Arial"/>
              </a:defRPr>
            </a:pPr>
            <a:r>
              <a:t>Decoupled Cryptographic Privacy</a:t>
            </a:r>
          </a:p>
          <a:p>
            <a:pPr>
              <a:spcAft>
                <a:spcPts val="400"/>
              </a:spcAft>
              <a:defRPr sz="950" b="1">
                <a:solidFill>
                  <a:srgbClr val="FFD166"/>
                </a:solidFill>
                <a:latin typeface="Arial"/>
              </a:defRPr>
            </a:pPr>
            <a:r>
              <a:t>[SECURITY &amp; AUDITABILITY]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Single-use authorization token burn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Merkle tree O(log N) inclusion receipts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Tamper-evident SHA-256 ledger chaining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60720"/>
            <a:ext cx="10332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Arial"/>
              </a:defRPr>
            </a:pPr>
            <a:r>
              <a:t>Author: Nawin  |  Email: kgnawinkg@gmail.com  |  Repository: kgnawinkg-tech/Decentralised-Voting-System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0E5FF"/>
                </a:solidFill>
                <a:latin typeface="Arial"/>
              </a:defRPr>
            </a:pPr>
            <a:r>
              <a:t>GUIDELINE SECTION B.I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1. Introduction &amp; Motivation: The Electronic Voting Crisis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98448"/>
            <a:ext cx="10725912" cy="18288"/>
          </a:xfrm>
          <a:prstGeom prst="rect">
            <a:avLst/>
          </a:prstGeom>
          <a:solidFill>
            <a:srgbClr val="3A506B"/>
          </a:solidFill>
          <a:ln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120640" cy="475488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4754880" cy="4434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FFD166"/>
                </a:solidFill>
                <a:latin typeface="Arial"/>
              </a:defRPr>
            </a:pPr>
            <a:r>
              <a:t>The Vulnerability of Centralized Voting</a:t>
            </a:r>
          </a:p>
          <a:p>
            <a:pPr>
              <a:spcAft>
                <a:spcPts val="400"/>
              </a:spcAft>
              <a:defRPr sz="950" b="1">
                <a:solidFill>
                  <a:srgbClr val="FFD166"/>
                </a:solidFill>
                <a:latin typeface="Arial"/>
              </a:defRPr>
            </a:pPr>
            <a:r>
              <a:t>[THE REAL-WORLD PROBLEM]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Single Point of Failure: Central databases are vulnerable to malicious database administrator tampering and external cyberattacks.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Opacity &amp; Trust Deficit: Voters cannot mathematically verify if their ballot was counted as cast without revealing their vote.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Double-Voting &amp; Identity Spoofing: Central systems struggle to enforce strict one-person-one-vote rules across distributed geographic polling stations.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Coercion Risks: Direct linkage of voter identity to candidate selections makes voters vulnerable to bribery and voter intimidation.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08760"/>
            <a:ext cx="5212080" cy="475488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91640"/>
            <a:ext cx="4846320" cy="4434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0E5FF"/>
                </a:solidFill>
                <a:latin typeface="Arial"/>
              </a:defRPr>
            </a:pPr>
            <a:r>
              <a:t>The DSA-Driven Blockchain Solution</a:t>
            </a:r>
          </a:p>
          <a:p>
            <a:pPr>
              <a:spcAft>
                <a:spcPts val="400"/>
              </a:spcAft>
              <a:defRPr sz="950" b="1">
                <a:solidFill>
                  <a:srgbClr val="FFD166"/>
                </a:solidFill>
                <a:latin typeface="Arial"/>
              </a:defRPr>
            </a:pPr>
            <a:r>
              <a:t>[OUR PROPOSED PARADIGM]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Cryptographic Decentralization: Independent computers replicate the ledger using deterministic peer-to-peer gossip algorithms.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Zero-Trust Verification: Merkle Trees provide logarithmic O(log N) inclusion proofs, allowing voters to verify their vote without revealing it.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Deterministic Token Decoupling: Authentication is separated from ballot submission via single-use SHA-256 tokens.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Algorithmic Performance: 25 purpose-built data structures (Hash Tables, AVL Trees, Min-Heaps) ensure sub-millisecond throughput and low latency.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0E5FF"/>
                </a:solidFill>
                <a:latin typeface="Arial"/>
              </a:defRPr>
            </a:pPr>
            <a:r>
              <a:t>GUIDELINE SECTION B.II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2. Problem Statement &amp; Real-World Relevance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98448"/>
            <a:ext cx="10725912" cy="18288"/>
          </a:xfrm>
          <a:prstGeom prst="rect">
            <a:avLst/>
          </a:prstGeom>
          <a:solidFill>
            <a:srgbClr val="3A506B"/>
          </a:solidFill>
          <a:ln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383280" cy="475488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3017520" cy="4434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A78BFA"/>
                </a:solidFill>
                <a:latin typeface="Arial"/>
              </a:defRPr>
            </a:pPr>
            <a:r>
              <a:t>Formal Problem Statement</a:t>
            </a:r>
          </a:p>
          <a:p>
            <a:pPr>
              <a:spcAft>
                <a:spcPts val="400"/>
              </a:spcAft>
              <a:defRPr sz="950" b="1">
                <a:solidFill>
                  <a:srgbClr val="FFD166"/>
                </a:solidFill>
                <a:latin typeface="Arial"/>
              </a:defRPr>
            </a:pPr>
            <a:r>
              <a:t>[FORMAL SPECIFICATION]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Design and implement an end-to-end decentralized voting network operating over peer-to-peer nodes.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Guarantee three mutually opposing constraints: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1. Complete Voter Privacy (zero identity linkage in public blocks).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2. Strict Single-Vote Invariance (O(1) duplicate vote prevention).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3. Universal Auditability (tamper-evident Merkle hash proofs).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08760"/>
            <a:ext cx="3383280" cy="475488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691640"/>
            <a:ext cx="3017520" cy="4434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FFD166"/>
                </a:solidFill>
                <a:latin typeface="Arial"/>
              </a:defRPr>
            </a:pPr>
            <a:r>
              <a:t>Why AI/ML Fails Here</a:t>
            </a:r>
          </a:p>
          <a:p>
            <a:pPr>
              <a:spcAft>
                <a:spcPts val="400"/>
              </a:spcAft>
              <a:defRPr sz="950" b="1">
                <a:solidFill>
                  <a:srgbClr val="FFD166"/>
                </a:solidFill>
                <a:latin typeface="Arial"/>
              </a:defRPr>
            </a:pPr>
            <a:r>
              <a:t>[WHY DSA INSTEAD OF AI/ML]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Non-Deterministic: Neural networks and probabilistic models cannot provide absolute mathematical integrity guarantees.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Black-Box Decision Making: Machine learning models introduce unexplainable weights, inadmissible in democratic governance.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Hallucination / Error Rates: Even a 99.9% accurate AI classifier implies 1 in 1,000 fraudulent ballots accepted.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Conclusion: Exact Data Structures and Deterministic Algorithms are mandatory.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08760"/>
            <a:ext cx="3383280" cy="475488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691640"/>
            <a:ext cx="3017520" cy="4434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Arial"/>
              </a:defRPr>
            </a:pPr>
            <a:r>
              <a:t>Real-World Applications</a:t>
            </a:r>
          </a:p>
          <a:p>
            <a:pPr>
              <a:spcAft>
                <a:spcPts val="400"/>
              </a:spcAft>
              <a:defRPr sz="950" b="1">
                <a:solidFill>
                  <a:srgbClr val="FFD166"/>
                </a:solidFill>
                <a:latin typeface="Arial"/>
              </a:defRPr>
            </a:pPr>
            <a:r>
              <a:t>[APPLIED DOMAINS]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National &amp; Municipal Elections: Eliminating physical booth tampering and manual paper recount disputes.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Corporate Shareholder Governance: Secure proxy voting across multinational board members.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DAO &amp; Decentralized Finance (DeFi): On-chain proposal voting with cryptographic stake weighting.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University &amp; Union Elections: Low-cost, provably tamper-proof student body elections.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0E5FF"/>
                </a:solidFill>
                <a:latin typeface="Arial"/>
              </a:defRPr>
            </a:pPr>
            <a:r>
              <a:t>GUIDELINE SECTION B.III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3. Project Objectives &amp; Architectural 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98448"/>
            <a:ext cx="10725912" cy="18288"/>
          </a:xfrm>
          <a:prstGeom prst="rect">
            <a:avLst/>
          </a:prstGeom>
          <a:solidFill>
            <a:srgbClr val="3A506B"/>
          </a:solidFill>
          <a:ln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120640" cy="224028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475488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0E5FF"/>
                </a:solidFill>
                <a:latin typeface="Arial"/>
              </a:defRPr>
            </a:pPr>
            <a:r>
              <a:t>Primary Engineering Objectives</a:t>
            </a:r>
          </a:p>
          <a:p>
            <a:pPr>
              <a:spcAft>
                <a:spcPts val="400"/>
              </a:spcAft>
              <a:defRPr sz="950" b="1">
                <a:solidFill>
                  <a:srgbClr val="FFD166"/>
                </a:solidFill>
                <a:latin typeface="Arial"/>
              </a:defRPr>
            </a:pPr>
            <a:r>
              <a:t>[CORE MILESTONES]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Implement 25 Native Data Structures &amp; Algorithms from first principles in Python 3.13 without external blockchain frameworks.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Deploy a 3-Node P2P Cluster (Node A, Node B, Node C) with independent SQLite databases and cryptographic ledgers.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Enforce Byzantine/Crash-Resilient Consensus with leader-proposer and follower quorum verification (Q &gt;= 2/3).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08760"/>
            <a:ext cx="5212080" cy="224028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91640"/>
            <a:ext cx="484632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FFD166"/>
                </a:solidFill>
                <a:latin typeface="Arial"/>
              </a:defRPr>
            </a:pPr>
            <a:r>
              <a:t>Cryptographic &amp; Privacy Objectives</a:t>
            </a:r>
          </a:p>
          <a:p>
            <a:pPr>
              <a:spcAft>
                <a:spcPts val="400"/>
              </a:spcAft>
              <a:defRPr sz="950" b="1">
                <a:solidFill>
                  <a:srgbClr val="FFD166"/>
                </a:solidFill>
                <a:latin typeface="Arial"/>
              </a:defRPr>
            </a:pPr>
            <a:r>
              <a:t>[INTEGRITY MILESTONES]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Decouple voter identity from cast ballots using cryptographically random single-use authorization tokens.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Construct binary Merkle Trees for every block to generate compact O(log N) inclusion audit proofs for individual voters.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Achieve tamper-evident immutability via canonical SHA-256 block header chaining.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77639"/>
            <a:ext cx="10698480" cy="233172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160519"/>
            <a:ext cx="1033272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A78BFA"/>
                </a:solidFill>
                <a:latin typeface="Arial"/>
              </a:defRPr>
            </a:pPr>
            <a:r>
              <a:t>System Scope &amp; Deployment Modes</a:t>
            </a:r>
          </a:p>
          <a:p>
            <a:pPr>
              <a:spcAft>
                <a:spcPts val="400"/>
              </a:spcAft>
              <a:defRPr sz="950" b="1">
                <a:solidFill>
                  <a:srgbClr val="FFD166"/>
                </a:solidFill>
                <a:latin typeface="Arial"/>
              </a:defRPr>
            </a:pPr>
            <a:r>
              <a:t>[OPERATIONAL SCOPE]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Simulation Mode: 3 concurrent processes on a single workstation (Node A: 5001, Node B: 5002, Node C: 5003).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Physical LAN Mode: 3 physical computers communicating over Wi-Fi / Ethernet with 0.0.0.0 IP binding.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Web Dashboard &amp; Explorer: Real-time UI with live block explorer, topological visualizer, and Merkle proof auditor.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Automated Test Suite: 25 automated pytest suites covering 100% of DSA and consensus edge cases.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0E5FF"/>
                </a:solidFill>
                <a:latin typeface="Arial"/>
              </a:defRPr>
            </a:pPr>
            <a:r>
              <a:t>GUIDELINE SECTION B.IV.1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4. Dataset &amp; Input Representation (DSA Perspective)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98448"/>
            <a:ext cx="10725912" cy="18288"/>
          </a:xfrm>
          <a:prstGeom prst="rect">
            <a:avLst/>
          </a:prstGeom>
          <a:solidFill>
            <a:srgbClr val="3A506B"/>
          </a:solidFill>
          <a:ln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120640" cy="475488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4754880" cy="4434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0E5FF"/>
                </a:solidFill>
                <a:latin typeface="Arial"/>
              </a:defRPr>
            </a:pPr>
            <a:r>
              <a:t>Dataset Architecture &amp; Sources</a:t>
            </a:r>
          </a:p>
          <a:p>
            <a:pPr>
              <a:spcAft>
                <a:spcPts val="400"/>
              </a:spcAft>
              <a:defRPr sz="950" b="1">
                <a:solidFill>
                  <a:srgbClr val="FFD166"/>
                </a:solidFill>
                <a:latin typeface="Arial"/>
              </a:defRPr>
            </a:pPr>
            <a:r>
              <a:t>[DATA SOURCES &amp; STRUCTURE]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Synthetic Voter Registry: Pre-generated benchmarks with 100 to 5,000 eligible voter profiles (Voter ID, Salted Hash, Timestamp).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Transaction Payloads: Structured JSON ballots consisting of transaction_id, token_hash, candidate_id, and unix_epoch.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Network Topology Matrix: Dynamic peer-to-peer adjacency lists representing network nodes and inter-node latency weights.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Historical Block Chunks: Immutable JSON serializations representing chained ledger states from Genesis (Index 0) to Tip.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08760"/>
            <a:ext cx="5212080" cy="475488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91640"/>
            <a:ext cx="4846320" cy="4434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A78BFA"/>
                </a:solidFill>
                <a:latin typeface="Arial"/>
              </a:defRPr>
            </a:pPr>
            <a:r>
              <a:t>Memory vs Disk Representation</a:t>
            </a:r>
          </a:p>
          <a:p>
            <a:pPr>
              <a:spcAft>
                <a:spcPts val="400"/>
              </a:spcAft>
              <a:defRPr sz="950" b="1">
                <a:solidFill>
                  <a:srgbClr val="FFD166"/>
                </a:solidFill>
                <a:latin typeface="Arial"/>
              </a:defRPr>
            </a:pPr>
            <a:r>
              <a:t>[DATA STRUCTURE ENCODINGS]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In-Memory State: In-memory Hash Tables and HashSets for O(1) duplicate vote filtering and mempool queueing.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Persistent Storage: Isolated SQLite relational database per node enforcing ACID transactions and UNIQUE constraints.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Merkle Tree Hashes: Binary leaf arrays computed via sha256(canonical_json(tx)) with odd-leaf duplication.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Cryptographic Keys: 256-bit ECDSA NIST P-256 (SECP256R1) keys stored in PKCS#8 PEM format for digital signatures.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0E5FF"/>
                </a:solidFill>
                <a:latin typeface="Arial"/>
              </a:defRPr>
            </a:pPr>
            <a:r>
              <a:t>GUIDELINE SECTION B.IV.2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5. Data Preprocessing &amp; Canonical Serialization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98448"/>
            <a:ext cx="10725912" cy="18288"/>
          </a:xfrm>
          <a:prstGeom prst="rect">
            <a:avLst/>
          </a:prstGeom>
          <a:solidFill>
            <a:srgbClr val="3A506B"/>
          </a:solidFill>
          <a:ln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383280" cy="475488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3017520" cy="4434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0E5FF"/>
                </a:solidFill>
                <a:latin typeface="Arial"/>
              </a:defRPr>
            </a:pPr>
            <a:r>
              <a:t>Canonical JSON Hashing</a:t>
            </a:r>
          </a:p>
          <a:p>
            <a:pPr>
              <a:spcAft>
                <a:spcPts val="400"/>
              </a:spcAft>
              <a:defRPr sz="950" b="1">
                <a:solidFill>
                  <a:srgbClr val="FFD166"/>
                </a:solidFill>
                <a:latin typeface="Arial"/>
              </a:defRPr>
            </a:pPr>
            <a:r>
              <a:t>[DETERMINISM]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Problem: JSON key order in Python dictionaries is non-deterministic, risking false hash mismatches.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Technique: Sort dictionary keys alphabetically, eliminate whitespace, and enforce UTF-8 encoding.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Result: Exact, deterministic SHA-256 digests across all heterogeneous operating systems.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08760"/>
            <a:ext cx="3383280" cy="475488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691640"/>
            <a:ext cx="3017520" cy="4434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FFD166"/>
                </a:solidFill>
                <a:latin typeface="Arial"/>
              </a:defRPr>
            </a:pPr>
            <a:r>
              <a:t>Voter Credential Salting</a:t>
            </a:r>
          </a:p>
          <a:p>
            <a:pPr>
              <a:spcAft>
                <a:spcPts val="400"/>
              </a:spcAft>
              <a:defRPr sz="950" b="1">
                <a:solidFill>
                  <a:srgbClr val="FFD166"/>
                </a:solidFill>
                <a:latin typeface="Arial"/>
              </a:defRPr>
            </a:pPr>
            <a:r>
              <a:t>[AUTHENTICATION]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Problem: Plaintext or unsalted passwords in voter registries are vulnerable to dictionary attacks.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Technique: PBKDF2-HMAC-SHA256 with 100,000 iterations and 16-byte cryptographically secure random salt.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Result: Robust credential protection even if node disk storage is physically compromised.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08760"/>
            <a:ext cx="3383280" cy="475488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691640"/>
            <a:ext cx="3017520" cy="4434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Arial"/>
              </a:defRPr>
            </a:pPr>
            <a:r>
              <a:t>Token Decoupling Protocol</a:t>
            </a:r>
          </a:p>
          <a:p>
            <a:pPr>
              <a:spcAft>
                <a:spcPts val="400"/>
              </a:spcAft>
              <a:defRPr sz="950" b="1">
                <a:solidFill>
                  <a:srgbClr val="FFD166"/>
                </a:solidFill>
                <a:latin typeface="Arial"/>
              </a:defRPr>
            </a:pPr>
            <a:r>
              <a:t>[ANONYMIZATION]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Problem: Recording voter ID alongside candidate choice violates the constitutional secret ballot.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Technique: Issue a single-use authorization token T; record sha256(T) in authorization table; burn token on ballot cast.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Result: Mathematical decoupling of voter identity from cast ballot on public ledger.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0E5FF"/>
                </a:solidFill>
                <a:latin typeface="Arial"/>
              </a:defRPr>
            </a:pPr>
            <a:r>
              <a:t>GUIDELINE SECTION B.IV.3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6. Exploratory Complexity Profiling &amp; System Metrics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98448"/>
            <a:ext cx="10725912" cy="18288"/>
          </a:xfrm>
          <a:prstGeom prst="rect">
            <a:avLst/>
          </a:prstGeom>
          <a:solidFill>
            <a:srgbClr val="3A506B"/>
          </a:solidFill>
          <a:ln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383280" cy="475488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3017520" cy="4434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0E5FF"/>
                </a:solidFill>
                <a:latin typeface="Arial"/>
              </a:defRPr>
            </a:pPr>
            <a:r>
              <a:t>Hash Table Scaling</a:t>
            </a:r>
          </a:p>
          <a:p>
            <a:pPr>
              <a:spcAft>
                <a:spcPts val="400"/>
              </a:spcAft>
              <a:defRPr sz="950" b="1">
                <a:solidFill>
                  <a:srgbClr val="FFD166"/>
                </a:solidFill>
                <a:latin typeface="Arial"/>
              </a:defRPr>
            </a:pPr>
            <a:r>
              <a:t>[O(1) IN-MEMORY LOOKUPS]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Evaluated across N=100, 1000, 5000 records.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100 records: 0.10 ms search (1.0 us/key).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1,000 records: 1.14 ms search (1.14 us/key).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5,000 records: 7.32 ms search (1.46 us/key).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Finding: Constant-time O(1) scaling confirmed via dynamic load-factor resizing.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08760"/>
            <a:ext cx="3383280" cy="475488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691640"/>
            <a:ext cx="3017520" cy="4434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A78BFA"/>
                </a:solidFill>
                <a:latin typeface="Arial"/>
              </a:defRPr>
            </a:pPr>
            <a:r>
              <a:t>Consistent Hashing Ring</a:t>
            </a:r>
          </a:p>
          <a:p>
            <a:pPr>
              <a:spcAft>
                <a:spcPts val="400"/>
              </a:spcAft>
              <a:defRPr sz="950" b="1">
                <a:solidFill>
                  <a:srgbClr val="FFD166"/>
                </a:solidFill>
                <a:latin typeface="Arial"/>
              </a:defRPr>
            </a:pPr>
            <a:r>
              <a:t>[O(LOG N) SHARD ROUTING]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Evaluated with 50 virtual nodes per server.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100 keys: 0.20 ms total (500k keys/sec).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1,000 keys: 1.89 ms total (529k keys/sec).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5,000 keys: 6.75 ms total (740k keys/sec).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Finding: Binary search (bisect_right) ensures sub-2-microsecond routing decisions.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08760"/>
            <a:ext cx="3383280" cy="475488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691640"/>
            <a:ext cx="3017520" cy="4434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FFD166"/>
                </a:solidFill>
                <a:latin typeface="Arial"/>
              </a:defRPr>
            </a:pPr>
            <a:r>
              <a:t>Merkle Tree Scaling</a:t>
            </a:r>
          </a:p>
          <a:p>
            <a:pPr>
              <a:spcAft>
                <a:spcPts val="400"/>
              </a:spcAft>
              <a:defRPr sz="950" b="1">
                <a:solidFill>
                  <a:srgbClr val="FFD166"/>
                </a:solidFill>
                <a:latin typeface="Arial"/>
              </a:defRPr>
            </a:pPr>
            <a:r>
              <a:t>[O(LOG N) PROOFS]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16 leaves: 0.08 ms build | 0.025 ms verify.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64 leaves: 0.11 ms build | 0.019 ms verify.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256 leaves: 0.40 ms build | 0.019 ms verify.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1,024 leaves: 1.96 ms build | 0.026 ms verify.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Finding: Verification latency stays flat at ~0.02 ms regardless of transaction volume.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0E5FF"/>
                </a:solidFill>
                <a:latin typeface="Arial"/>
              </a:defRPr>
            </a:pPr>
            <a:r>
              <a:t>GUIDELINE SECTION B.IV.4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7. Master DSA Taxonomy: Core Linear &amp; Non-Linear Structures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98448"/>
            <a:ext cx="10725912" cy="18288"/>
          </a:xfrm>
          <a:prstGeom prst="rect">
            <a:avLst/>
          </a:prstGeom>
          <a:solidFill>
            <a:srgbClr val="3A506B"/>
          </a:solidFill>
          <a:ln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383280" cy="233172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301752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0E5FF"/>
                </a:solidFill>
                <a:latin typeface="Arial"/>
              </a:defRPr>
            </a:pPr>
            <a:r>
              <a:t>1. Hash Table &amp; 24. Hash Set</a:t>
            </a:r>
          </a:p>
          <a:p>
            <a:pPr>
              <a:spcAft>
                <a:spcPts val="400"/>
              </a:spcAft>
              <a:defRPr sz="950" b="1">
                <a:solidFill>
                  <a:srgbClr val="FFD166"/>
                </a:solidFill>
                <a:latin typeface="Arial"/>
              </a:defRPr>
            </a:pPr>
            <a:r>
              <a:t>[LOOKUP &amp; UNIQUENESS]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Module: src/dsa/hash_table.py &amp; hash_set.py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Time: Avg O(1), Worst O(N) | Space: O(N+M)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Application: Instant voter eligibility lookup and atomic double-vote prevention.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08760"/>
            <a:ext cx="3383280" cy="233172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691640"/>
            <a:ext cx="301752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A78BFA"/>
                </a:solidFill>
                <a:latin typeface="Arial"/>
              </a:defRPr>
            </a:pPr>
            <a:r>
              <a:t>2. Singly Linked List</a:t>
            </a:r>
          </a:p>
          <a:p>
            <a:pPr>
              <a:spcAft>
                <a:spcPts val="400"/>
              </a:spcAft>
              <a:defRPr sz="950" b="1">
                <a:solidFill>
                  <a:srgbClr val="FFD166"/>
                </a:solidFill>
                <a:latin typeface="Arial"/>
              </a:defRPr>
            </a:pPr>
            <a:r>
              <a:t>[LEDGER CHAINING]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Module: src/dsa/singly_linked_list.py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Time: Append O(1), Search O(N) | Space: O(N)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Application: Sequential block linkage and forward chain integrity traversal from genesis to tip.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08760"/>
            <a:ext cx="3383280" cy="233172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691640"/>
            <a:ext cx="301752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FFD166"/>
                </a:solidFill>
                <a:latin typeface="Arial"/>
              </a:defRPr>
            </a:pPr>
            <a:r>
              <a:t>3. Doubly Linked List</a:t>
            </a:r>
          </a:p>
          <a:p>
            <a:pPr>
              <a:spcAft>
                <a:spcPts val="400"/>
              </a:spcAft>
              <a:defRPr sz="950" b="1">
                <a:solidFill>
                  <a:srgbClr val="FFD166"/>
                </a:solidFill>
                <a:latin typeface="Arial"/>
              </a:defRPr>
            </a:pPr>
            <a:r>
              <a:t>[BIDIRECTIONAL LOGS]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Module: src/dsa/doubly_linked_list.py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Time: Insert O(1), Walk O(N) | Space: O(N)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Application: Bidirectional audit trail navigation and block explorer timeline inspection.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77639"/>
            <a:ext cx="3383280" cy="233172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160519"/>
            <a:ext cx="301752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Arial"/>
              </a:defRPr>
            </a:pPr>
            <a:r>
              <a:t>4. Stack (LIFO)</a:t>
            </a:r>
          </a:p>
          <a:p>
            <a:pPr>
              <a:spcAft>
                <a:spcPts val="400"/>
              </a:spcAft>
              <a:defRPr sz="950" b="1">
                <a:solidFill>
                  <a:srgbClr val="FFD166"/>
                </a:solidFill>
                <a:latin typeface="Arial"/>
              </a:defRPr>
            </a:pPr>
            <a:r>
              <a:t>[STATE ROLLBACK]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Module: src/dsa/stack.py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Time: Push O(1), Pop O(1) | Space: O(N)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Application: Blockchain state rollback, orphan block recovery, and validation frame back-tracing.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3977639"/>
            <a:ext cx="3383280" cy="233172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4160519"/>
            <a:ext cx="301752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0E5FF"/>
                </a:solidFill>
                <a:latin typeface="Arial"/>
              </a:defRPr>
            </a:pPr>
            <a:r>
              <a:t>5. Queue (FIFO)</a:t>
            </a:r>
          </a:p>
          <a:p>
            <a:pPr>
              <a:spcAft>
                <a:spcPts val="400"/>
              </a:spcAft>
              <a:defRPr sz="950" b="1">
                <a:solidFill>
                  <a:srgbClr val="FFD166"/>
                </a:solidFill>
                <a:latin typeface="Arial"/>
              </a:defRPr>
            </a:pPr>
            <a:r>
              <a:t>[MEMPOOL PIPELINE]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Module: src/dsa/queue.py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Time: Enqueue O(1), Dequeue O(1) | Space: O(N)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Application: Mempool transaction ordering ensuring first-come-first-served ballot processing.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3977639"/>
            <a:ext cx="3383280" cy="233172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4160519"/>
            <a:ext cx="301752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A78BFA"/>
                </a:solidFill>
                <a:latin typeface="Arial"/>
              </a:defRPr>
            </a:pPr>
            <a:r>
              <a:t>12. Circular Queue (Ring Buffer)</a:t>
            </a:r>
          </a:p>
          <a:p>
            <a:pPr>
              <a:spcAft>
                <a:spcPts val="400"/>
              </a:spcAft>
              <a:defRPr sz="950" b="1">
                <a:solidFill>
                  <a:srgbClr val="FFD166"/>
                </a:solidFill>
                <a:latin typeface="Arial"/>
              </a:defRPr>
            </a:pPr>
            <a:r>
              <a:t>[FLOOD PROTECTION]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Module: src/dsa/circular_queue.py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Time: Enqueue O(1), Dequeue O(1) | Space: O(K)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Application: Bounded memory ring buffer protecting node HTTP endpoints against request flood attacks.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0E5FF"/>
                </a:solidFill>
                <a:latin typeface="Arial"/>
              </a:defRPr>
            </a:pPr>
            <a:r>
              <a:t>GUIDELINE SECTION B.IV.4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8. Master DSA Taxonomy: Trees, Tries &amp; Priority Queues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98448"/>
            <a:ext cx="10725912" cy="18288"/>
          </a:xfrm>
          <a:prstGeom prst="rect">
            <a:avLst/>
          </a:prstGeom>
          <a:solidFill>
            <a:srgbClr val="3A506B"/>
          </a:solidFill>
          <a:ln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383280" cy="233172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301752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FFD166"/>
                </a:solidFill>
                <a:latin typeface="Arial"/>
              </a:defRPr>
            </a:pPr>
            <a:r>
              <a:t>6. Priority Queue (Min-Heap)</a:t>
            </a:r>
          </a:p>
          <a:p>
            <a:pPr>
              <a:spcAft>
                <a:spcPts val="400"/>
              </a:spcAft>
              <a:defRPr sz="950" b="1">
                <a:solidFill>
                  <a:srgbClr val="FFD166"/>
                </a:solidFill>
                <a:latin typeface="Arial"/>
              </a:defRPr>
            </a:pPr>
            <a:r>
              <a:t>[TASK SCHEDULING]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Module: src/dsa/priority_queue.py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Time: Push/Pop O(log N) | Space: O(N)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Application: Node peer heartbeat scheduler and retry task queue prioritized by connection latency.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08760"/>
            <a:ext cx="3383280" cy="233172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691640"/>
            <a:ext cx="301752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0E5FF"/>
                </a:solidFill>
                <a:latin typeface="Arial"/>
              </a:defRPr>
            </a:pPr>
            <a:r>
              <a:t>7. Binary Search Tree (BST)</a:t>
            </a:r>
          </a:p>
          <a:p>
            <a:pPr>
              <a:spcAft>
                <a:spcPts val="400"/>
              </a:spcAft>
              <a:defRPr sz="950" b="1">
                <a:solidFill>
                  <a:srgbClr val="FFD166"/>
                </a:solidFill>
                <a:latin typeface="Arial"/>
              </a:defRPr>
            </a:pPr>
            <a:r>
              <a:t>[ORDERED INDEX]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Module: src/dsa/binary_search_tree.py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Time: Avg O(log N), Worst O(N) | Space: O(N)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Application: Ordered indexing of block heights and timestamp-based historical audit snapshots.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08760"/>
            <a:ext cx="3383280" cy="233172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691640"/>
            <a:ext cx="301752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A78BFA"/>
                </a:solidFill>
                <a:latin typeface="Arial"/>
              </a:defRPr>
            </a:pPr>
            <a:r>
              <a:t>8. AVL Tree (Self-Balancing)</a:t>
            </a:r>
          </a:p>
          <a:p>
            <a:pPr>
              <a:spcAft>
                <a:spcPts val="400"/>
              </a:spcAft>
              <a:defRPr sz="950" b="1">
                <a:solidFill>
                  <a:srgbClr val="FFD166"/>
                </a:solidFill>
                <a:latin typeface="Arial"/>
              </a:defRPr>
            </a:pPr>
            <a:r>
              <a:t>[BALANCED RETRIEVAL]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Module: src/dsa/avl_tree.py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Time: Guaranteed O(log N) | Space: O(N)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Application: Deterministic log-time block lookups enforced via LL, RR, LR, and RL rotations.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77639"/>
            <a:ext cx="5120640" cy="233172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160519"/>
            <a:ext cx="47548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Arial"/>
              </a:defRPr>
            </a:pPr>
            <a:r>
              <a:t>9. Trie (Prefix Tree)</a:t>
            </a:r>
          </a:p>
          <a:p>
            <a:pPr>
              <a:spcAft>
                <a:spcPts val="400"/>
              </a:spcAft>
              <a:defRPr sz="950" b="1">
                <a:solidFill>
                  <a:srgbClr val="FFD166"/>
                </a:solidFill>
                <a:latin typeface="Arial"/>
              </a:defRPr>
            </a:pPr>
            <a:r>
              <a:t>[PREFIX AUTOCOMPLETE]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Module: src/dsa/trie.py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Time: Search O(L + K) where L=length, K=results | Space: O(Sigma * L * N)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Application: Instant autocompletion of registered candidate names and voter ID prefix searches in the Web Portal.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977639"/>
            <a:ext cx="5212080" cy="233172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4160519"/>
            <a:ext cx="484632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FFD166"/>
                </a:solidFill>
                <a:latin typeface="Arial"/>
              </a:defRPr>
            </a:pPr>
            <a:r>
              <a:t>21. Merkle Tree (Binary Hash Tree)</a:t>
            </a:r>
          </a:p>
          <a:p>
            <a:pPr>
              <a:spcAft>
                <a:spcPts val="400"/>
              </a:spcAft>
              <a:defRPr sz="950" b="1">
                <a:solidFill>
                  <a:srgbClr val="FFD166"/>
                </a:solidFill>
                <a:latin typeface="Arial"/>
              </a:defRPr>
            </a:pPr>
            <a:r>
              <a:t>[INCLUSION PROOFS]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Module: src/blockchain/merkle_tree.py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Time: Build O(N), Proof O(log N), Verify O(log N) | Space: O(N)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Application: Generating cryptographically secure voter inclusion receipts. Verifies ballot presence without exposing neighboring ballots.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0E5FF"/>
                </a:solidFill>
                <a:latin typeface="Arial"/>
              </a:defRPr>
            </a:pPr>
            <a:r>
              <a:t>GUIDELINE SECTION B.IV.4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9. Master DSA Taxonomy: Graphs, Topology &amp; Routing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98448"/>
            <a:ext cx="10725912" cy="18288"/>
          </a:xfrm>
          <a:prstGeom prst="rect">
            <a:avLst/>
          </a:prstGeom>
          <a:solidFill>
            <a:srgbClr val="3A506B"/>
          </a:solidFill>
          <a:ln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383280" cy="233172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301752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0E5FF"/>
                </a:solidFill>
                <a:latin typeface="Arial"/>
              </a:defRPr>
            </a:pPr>
            <a:r>
              <a:t>10. Graph (Adjacency List)</a:t>
            </a:r>
          </a:p>
          <a:p>
            <a:pPr>
              <a:spcAft>
                <a:spcPts val="400"/>
              </a:spcAft>
              <a:defRPr sz="950" b="1">
                <a:solidFill>
                  <a:srgbClr val="FFD166"/>
                </a:solidFill>
                <a:latin typeface="Arial"/>
              </a:defRPr>
            </a:pPr>
            <a:r>
              <a:t>[P2P TOPOLOGY]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Module: src/dsa/graph.py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Time: Add Edge O(1), Query O(deg(V)) | Space: O(V+E)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Application: Formal in-memory representation of peer-to-peer cluster topology and validator connections.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08760"/>
            <a:ext cx="3383280" cy="233172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691640"/>
            <a:ext cx="301752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A78BFA"/>
                </a:solidFill>
                <a:latin typeface="Arial"/>
              </a:defRPr>
            </a:pPr>
            <a:r>
              <a:t>13. Breadth-First Search (BFS)</a:t>
            </a:r>
          </a:p>
          <a:p>
            <a:pPr>
              <a:spcAft>
                <a:spcPts val="400"/>
              </a:spcAft>
              <a:defRPr sz="950" b="1">
                <a:solidFill>
                  <a:srgbClr val="FFD166"/>
                </a:solidFill>
                <a:latin typeface="Arial"/>
              </a:defRPr>
            </a:pPr>
            <a:r>
              <a:t>[PEER DISCOVERY]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Module: src/dsa/bfs.py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Time: O(V + E) | Space: O(V)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Application: Multi-hop peer discovery and shortest-hop routing to find nearest available validator nodes.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08760"/>
            <a:ext cx="3383280" cy="233172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691640"/>
            <a:ext cx="301752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FFD166"/>
                </a:solidFill>
                <a:latin typeface="Arial"/>
              </a:defRPr>
            </a:pPr>
            <a:r>
              <a:t>14. Depth-First Search &amp; 25. Cycle Detection</a:t>
            </a:r>
          </a:p>
          <a:p>
            <a:pPr>
              <a:spcAft>
                <a:spcPts val="400"/>
              </a:spcAft>
              <a:defRPr sz="950" b="1">
                <a:solidFill>
                  <a:srgbClr val="FFD166"/>
                </a:solidFill>
                <a:latin typeface="Arial"/>
              </a:defRPr>
            </a:pPr>
            <a:r>
              <a:t>[CYCLE DETECTION]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Module: src/dsa/dfs.py &amp; cycle_detection.py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Time: O(V + E) | Space: O(V)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Application: Connected component enumeration and 3-color DFS detection of cyclic deadlocks in transaction graphs.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77639"/>
            <a:ext cx="3383280" cy="233172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160519"/>
            <a:ext cx="301752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Arial"/>
              </a:defRPr>
            </a:pPr>
            <a:r>
              <a:t>19. Dijkstra's Algorithm</a:t>
            </a:r>
          </a:p>
          <a:p>
            <a:pPr>
              <a:spcAft>
                <a:spcPts val="400"/>
              </a:spcAft>
              <a:defRPr sz="950" b="1">
                <a:solidFill>
                  <a:srgbClr val="FFD166"/>
                </a:solidFill>
                <a:latin typeface="Arial"/>
              </a:defRPr>
            </a:pPr>
            <a:r>
              <a:t>[MIN-LATENCY ROUTE]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Module: src/dsa/dijkstra.py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Time: O((V + E) log V) via Min-Heap | Space: O(V)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Application: Minimum-latency packet routing across physical network links with dynamic ping weights.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3977639"/>
            <a:ext cx="3383280" cy="233172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4160519"/>
            <a:ext cx="301752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0E5FF"/>
                </a:solidFill>
                <a:latin typeface="Arial"/>
              </a:defRPr>
            </a:pPr>
            <a:r>
              <a:t>11. Union-Find (Disjoint Set)</a:t>
            </a:r>
          </a:p>
          <a:p>
            <a:pPr>
              <a:spcAft>
                <a:spcPts val="400"/>
              </a:spcAft>
              <a:defRPr sz="950" b="1">
                <a:solidFill>
                  <a:srgbClr val="FFD166"/>
                </a:solidFill>
                <a:latin typeface="Arial"/>
              </a:defRPr>
            </a:pPr>
            <a:r>
              <a:t>[PARTITION ANALYSIS]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Module: src/dsa/union_find.py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Time: O(alpha(N)) nearly O(1) | Space: O(N)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Application: Real-time network partition analysis to detect and alert against split-brain quorum failures.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3977639"/>
            <a:ext cx="3383280" cy="233172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4160519"/>
            <a:ext cx="301752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A78BFA"/>
                </a:solidFill>
                <a:latin typeface="Arial"/>
              </a:defRPr>
            </a:pPr>
            <a:r>
              <a:t>20. Topological Sort</a:t>
            </a:r>
          </a:p>
          <a:p>
            <a:pPr>
              <a:spcAft>
                <a:spcPts val="400"/>
              </a:spcAft>
              <a:defRPr sz="950" b="1">
                <a:solidFill>
                  <a:srgbClr val="FFD166"/>
                </a:solidFill>
                <a:latin typeface="Arial"/>
              </a:defRPr>
            </a:pPr>
            <a:r>
              <a:t>[DAG PIPELINE ORDER]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Module: src/dsa/topological_sort.py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Time: O(V + E) via Kahn's Algorithm | Space: O(V)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Application: Strict linear ordering of dependent transaction validation pipelines and block sequence queues.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0E5FF"/>
                </a:solidFill>
                <a:latin typeface="Arial"/>
              </a:defRPr>
            </a:pPr>
            <a:r>
              <a:t>GUIDELINE SECTION B.IV.4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10. Master DSA Taxonomy: Search, Sort &amp; Distributed Hashing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98448"/>
            <a:ext cx="10725912" cy="18288"/>
          </a:xfrm>
          <a:prstGeom prst="rect">
            <a:avLst/>
          </a:prstGeom>
          <a:solidFill>
            <a:srgbClr val="3A506B"/>
          </a:solidFill>
          <a:ln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120640" cy="233172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47548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0E5FF"/>
                </a:solidFill>
                <a:latin typeface="Arial"/>
              </a:defRPr>
            </a:pPr>
            <a:r>
              <a:t>15. Consistent Hashing Ring</a:t>
            </a:r>
          </a:p>
          <a:p>
            <a:pPr>
              <a:spcAft>
                <a:spcPts val="400"/>
              </a:spcAft>
              <a:defRPr sz="950" b="1">
                <a:solidFill>
                  <a:srgbClr val="FFD166"/>
                </a:solidFill>
                <a:latin typeface="Arial"/>
              </a:defRPr>
            </a:pPr>
            <a:r>
              <a:t>[DISTRIBUTED SHARDING]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Module: src/dsa/consistent_hashing.py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Time: O(log(N * R)) lookup via bisect_right | Space: O(N * R)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Application: 50 virtual nodes per server mapped on [0, 2^256 - 1] ring. Reassigns only K/N keys during node join/leave, preventing full-cluster rebalancing.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08760"/>
            <a:ext cx="5212080" cy="233172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91640"/>
            <a:ext cx="484632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A78BFA"/>
                </a:solidFill>
                <a:latin typeface="Arial"/>
              </a:defRPr>
            </a:pPr>
            <a:r>
              <a:t>16. Binary Search</a:t>
            </a:r>
          </a:p>
          <a:p>
            <a:pPr>
              <a:spcAft>
                <a:spcPts val="400"/>
              </a:spcAft>
              <a:defRPr sz="950" b="1">
                <a:solidFill>
                  <a:srgbClr val="FFD166"/>
                </a:solidFill>
                <a:latin typeface="Arial"/>
              </a:defRPr>
            </a:pPr>
            <a:r>
              <a:t>[LOGARITHMIC SEARCH]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Module: src/dsa/binary_search.py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Time: O(log N) | Space: O(1)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Application: High-speed logarithmic lookup of historical block heights and audit log timestamps in sorted chain arrays.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77639"/>
            <a:ext cx="3383280" cy="233172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160519"/>
            <a:ext cx="301752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FFD166"/>
                </a:solidFill>
                <a:latin typeface="Arial"/>
              </a:defRPr>
            </a:pPr>
            <a:r>
              <a:t>17. Merge Sort (Stable)</a:t>
            </a:r>
          </a:p>
          <a:p>
            <a:pPr>
              <a:spcAft>
                <a:spcPts val="400"/>
              </a:spcAft>
              <a:defRPr sz="950" b="1">
                <a:solidFill>
                  <a:srgbClr val="FFD166"/>
                </a:solidFill>
                <a:latin typeface="Arial"/>
              </a:defRPr>
            </a:pPr>
            <a:r>
              <a:t>[STABLE AUDIT SORT]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Module: src/dsa/merge_sort.py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Time: O(N log N) all cases | Space: O(N)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Application: Divide-and-conquer stable sorting for audit logs, preserving exact arrival sequence for identical timestamps.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3977639"/>
            <a:ext cx="3383280" cy="233172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4160519"/>
            <a:ext cx="301752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Arial"/>
              </a:defRPr>
            </a:pPr>
            <a:r>
              <a:t>18. Quick Sort (Median-of-3)</a:t>
            </a:r>
          </a:p>
          <a:p>
            <a:pPr>
              <a:spcAft>
                <a:spcPts val="400"/>
              </a:spcAft>
              <a:defRPr sz="950" b="1">
                <a:solidFill>
                  <a:srgbClr val="FFD166"/>
                </a:solidFill>
                <a:latin typeface="Arial"/>
              </a:defRPr>
            </a:pPr>
            <a:r>
              <a:t>[FAST TALLY SORT]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Module: src/dsa/quick_sort.py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Time: Avg O(N log N), Worst O(N^2) | Space: O(log N)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Application: High-speed in-memory ranking of candidate vote tallies and peer latency leaderboards.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3977639"/>
            <a:ext cx="3383280" cy="233172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4160519"/>
            <a:ext cx="301752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0E5FF"/>
                </a:solidFill>
                <a:latin typeface="Arial"/>
              </a:defRPr>
            </a:pPr>
            <a:r>
              <a:t>22. SHA-256 &amp; 23. ECDSA</a:t>
            </a:r>
          </a:p>
          <a:p>
            <a:pPr>
              <a:spcAft>
                <a:spcPts val="400"/>
              </a:spcAft>
              <a:defRPr sz="950" b="1">
                <a:solidFill>
                  <a:srgbClr val="FFD166"/>
                </a:solidFill>
                <a:latin typeface="Arial"/>
              </a:defRPr>
            </a:pPr>
            <a:r>
              <a:t>[CRYPTOGRAPHY]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Modules: src/security/hashing.py &amp; digital_signatures.py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Time: O(M) message hashing, O(1) ECC signing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Application: Cryptographic tamper detection and asymmetric block proposal endorsement signatures.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0E5FF"/>
                </a:solidFill>
                <a:latin typeface="Arial"/>
              </a:defRPr>
            </a:pPr>
            <a:r>
              <a:t>GUIDELINE SECTION B.IV.5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11. Consensus Protocol &amp; Algorithmic Validation Methodology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98448"/>
            <a:ext cx="10725912" cy="18288"/>
          </a:xfrm>
          <a:prstGeom prst="rect">
            <a:avLst/>
          </a:prstGeom>
          <a:solidFill>
            <a:srgbClr val="3A506B"/>
          </a:solidFill>
          <a:ln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383280" cy="475488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3017520" cy="4434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0E5FF"/>
                </a:solidFill>
                <a:latin typeface="Arial"/>
              </a:defRPr>
            </a:pPr>
            <a:r>
              <a:t>Phase 1: Block Proposal</a:t>
            </a:r>
          </a:p>
          <a:p>
            <a:pPr>
              <a:spcAft>
                <a:spcPts val="400"/>
              </a:spcAft>
              <a:defRPr sz="950" b="1">
                <a:solidFill>
                  <a:srgbClr val="FFD166"/>
                </a:solidFill>
                <a:latin typeface="Arial"/>
              </a:defRPr>
            </a:pPr>
            <a:r>
              <a:t>[PROPOSAL &amp; SIGNING]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The leader node gathers unconfirmed ballot transactions from its FIFO Mempool Queue.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Validates each transaction against in-memory HashSets to guarantee no token reuse.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Constructs the binary Merkle Tree from transactions and computes the Merkle Root.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Calculates canonical SHA-256 block hash and signs with its ECDSA SECP256R1 private key.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Broadcasts proposal payload to peer validator nodes.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08760"/>
            <a:ext cx="3383280" cy="475488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691640"/>
            <a:ext cx="3017520" cy="4434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A78BFA"/>
                </a:solidFill>
                <a:latin typeface="Arial"/>
              </a:defRPr>
            </a:pPr>
            <a:r>
              <a:t>Phase 2: Independent Validation</a:t>
            </a:r>
          </a:p>
          <a:p>
            <a:pPr>
              <a:spcAft>
                <a:spcPts val="400"/>
              </a:spcAft>
              <a:defRPr sz="950" b="1">
                <a:solidFill>
                  <a:srgbClr val="FFD166"/>
                </a:solidFill>
                <a:latin typeface="Arial"/>
              </a:defRPr>
            </a:pPr>
            <a:r>
              <a:t>[PEER VERIFICATION]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Receiving nodes verify previous_hash matches their local chain tip.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Re-serialize transactions canonically and recompute Merkle Root.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Verify leader's ECDSA digital signature using leader's public key.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Re-verify every transaction against local SQLite authorization databases.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Followers return signed endorsements if all checks pass.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08760"/>
            <a:ext cx="3383280" cy="475488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691640"/>
            <a:ext cx="3017520" cy="4434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FFD166"/>
                </a:solidFill>
                <a:latin typeface="Arial"/>
              </a:defRPr>
            </a:pPr>
            <a:r>
              <a:t>Phase 3: Quorum Commit</a:t>
            </a:r>
          </a:p>
          <a:p>
            <a:pPr>
              <a:spcAft>
                <a:spcPts val="400"/>
              </a:spcAft>
              <a:defRPr sz="950" b="1">
                <a:solidFill>
                  <a:srgbClr val="FFD166"/>
                </a:solidFill>
                <a:latin typeface="Arial"/>
              </a:defRPr>
            </a:pPr>
            <a:r>
              <a:t>[QUORUM &amp; FINALITY]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Quorum Requirement: Minimum Q = 2 out of 3 node endorsements required.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Leader verifies follower signatures and broadcasts commit command.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All nodes append block to their local blockchain and flush mined transactions from Mempool.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Partition Safety: If fewer than Q nodes respond, consensus halts safely; zero invalid blocks committed.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0E5FF"/>
                </a:solidFill>
                <a:latin typeface="Arial"/>
              </a:defRPr>
            </a:pPr>
            <a:r>
              <a:t>GUIDELINE SECTION B.IV.5 (PRIVACY)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12. Decoupled Anonymous Ballot Protocol Workflow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98448"/>
            <a:ext cx="10725912" cy="18288"/>
          </a:xfrm>
          <a:prstGeom prst="rect">
            <a:avLst/>
          </a:prstGeom>
          <a:solidFill>
            <a:srgbClr val="3A506B"/>
          </a:solidFill>
          <a:ln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2468880" cy="475488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2103120" cy="4434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0E5FF"/>
                </a:solidFill>
                <a:latin typeface="Arial"/>
              </a:defRPr>
            </a:pPr>
            <a:r>
              <a:t>Step 1: Auth</a:t>
            </a:r>
          </a:p>
          <a:p>
            <a:pPr>
              <a:spcAft>
                <a:spcPts val="400"/>
              </a:spcAft>
              <a:defRPr sz="950" b="1">
                <a:solidFill>
                  <a:srgbClr val="FFD166"/>
                </a:solidFill>
                <a:latin typeface="Arial"/>
              </a:defRPr>
            </a:pPr>
            <a:r>
              <a:t>[VERIFICATION]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Voter logs in with Voter ID and password.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Password verified via PBKDF2-HMAC-SHA256 salt.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Database checks eligibility in voters table.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Rejects if already voted.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508760"/>
            <a:ext cx="2468880" cy="475488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1691640"/>
            <a:ext cx="2103120" cy="4434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A78BFA"/>
                </a:solidFill>
                <a:latin typeface="Arial"/>
              </a:defRPr>
            </a:pPr>
            <a:r>
              <a:t>Step 2: Token Issuance</a:t>
            </a:r>
          </a:p>
          <a:p>
            <a:pPr>
              <a:spcAft>
                <a:spcPts val="400"/>
              </a:spcAft>
              <a:defRPr sz="950" b="1">
                <a:solidFill>
                  <a:srgbClr val="FFD166"/>
                </a:solidFill>
                <a:latin typeface="Arial"/>
              </a:defRPr>
            </a:pPr>
            <a:r>
              <a:t>[AUTHORIZATION]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System generates cryptographically secure 256-bit random token T.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Stores sha256(T) in voting_authorizations table.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Enforces UNIQUE(voter_id, election_id).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Token T passed to voter's browser.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08760"/>
            <a:ext cx="2468880" cy="475488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91640"/>
            <a:ext cx="2103120" cy="4434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FFD166"/>
                </a:solidFill>
                <a:latin typeface="Arial"/>
              </a:defRPr>
            </a:pPr>
            <a:r>
              <a:t>Step 3: Ballot Cast</a:t>
            </a:r>
          </a:p>
          <a:p>
            <a:pPr>
              <a:spcAft>
                <a:spcPts val="400"/>
              </a:spcAft>
              <a:defRPr sz="950" b="1">
                <a:solidFill>
                  <a:srgbClr val="FFD166"/>
                </a:solidFill>
                <a:latin typeface="Arial"/>
              </a:defRPr>
            </a:pPr>
            <a:r>
              <a:t>[ANONYMOUS SUBMISSION]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Voter client submits (candidate_id, T).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CRITICAL: voter_id is NEVER sent in ballot payload!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System verifies sha256(T) exists and is unconsumed.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Burns token atomically.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0" y="1508760"/>
            <a:ext cx="2468880" cy="475488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0" y="1691640"/>
            <a:ext cx="2103120" cy="4434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Arial"/>
              </a:defRPr>
            </a:pPr>
            <a:r>
              <a:t>Step 4: Block Inclusion</a:t>
            </a:r>
          </a:p>
          <a:p>
            <a:pPr>
              <a:spcAft>
                <a:spcPts val="400"/>
              </a:spcAft>
              <a:defRPr sz="950" b="1">
                <a:solidFill>
                  <a:srgbClr val="FFD166"/>
                </a:solidFill>
                <a:latin typeface="Arial"/>
              </a:defRPr>
            </a:pPr>
            <a:r>
              <a:t>[IMMUTABLE LEDGER]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Transaction recorded as (tx_id, token_hash, candidate_id, timestamp).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Mined into immutable block.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Voter receives Merkle receipt.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Impossible to reverse-map to voter ID.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0E5FF"/>
                </a:solidFill>
                <a:latin typeface="Arial"/>
              </a:defRPr>
            </a:pPr>
            <a:r>
              <a:t>GUIDELINE SECTION B.IV.6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13. Evaluation Metrics &amp; Empirical Performance Analysis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98448"/>
            <a:ext cx="10725912" cy="18288"/>
          </a:xfrm>
          <a:prstGeom prst="rect">
            <a:avLst/>
          </a:prstGeom>
          <a:solidFill>
            <a:srgbClr val="3A506B"/>
          </a:solidFill>
          <a:ln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120640" cy="233172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47548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0E5FF"/>
                </a:solidFill>
                <a:latin typeface="Arial"/>
              </a:defRPr>
            </a:pPr>
            <a:r>
              <a:t>Hash Table &amp; HashSet Operations</a:t>
            </a:r>
          </a:p>
          <a:p>
            <a:pPr>
              <a:spcAft>
                <a:spcPts val="400"/>
              </a:spcAft>
              <a:defRPr sz="950" b="1">
                <a:solidFill>
                  <a:srgbClr val="FFD166"/>
                </a:solidFill>
                <a:latin typeface="Arial"/>
              </a:defRPr>
            </a:pPr>
            <a:r>
              <a:t>[O(1) EMPIRICAL VALIDATION]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100 Records: Insert 0.35 ms | Search 0.10 ms (1.00 us/key)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1,000 Records: Insert 3.97 ms | Search 1.14 ms (1.14 us/key)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5,000 Records: Insert 20.58 ms | Search 7.32 ms (1.46 us/key)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Analysis: Constant-time O(1) performance confirmed across scale.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08760"/>
            <a:ext cx="5212080" cy="233172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91640"/>
            <a:ext cx="484632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A78BFA"/>
                </a:solidFill>
                <a:latin typeface="Arial"/>
              </a:defRPr>
            </a:pPr>
            <a:r>
              <a:t>Consistent Hashing Record Routing</a:t>
            </a:r>
          </a:p>
          <a:p>
            <a:pPr>
              <a:spcAft>
                <a:spcPts val="400"/>
              </a:spcAft>
              <a:defRPr sz="950" b="1">
                <a:solidFill>
                  <a:srgbClr val="FFD166"/>
                </a:solidFill>
                <a:latin typeface="Arial"/>
              </a:defRPr>
            </a:pPr>
            <a:r>
              <a:t>[HIGH-THROUGHPUT SHARDING]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100 Keys: 0.20 ms total (500,000 routing decisions/sec)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1,000 Keys: 1.89 ms total (529,000 routing decisions/sec)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5,000 Keys: 6.75 ms total (740,000 routing decisions/sec)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Analysis: Sub-2-microsecond lookup throughput for sharded records.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77639"/>
            <a:ext cx="5120640" cy="233172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160519"/>
            <a:ext cx="47548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FFD166"/>
                </a:solidFill>
                <a:latin typeface="Arial"/>
              </a:defRPr>
            </a:pPr>
            <a:r>
              <a:t>Merkle Tree Construction &amp; Proofs</a:t>
            </a:r>
          </a:p>
          <a:p>
            <a:pPr>
              <a:spcAft>
                <a:spcPts val="400"/>
              </a:spcAft>
              <a:defRPr sz="950" b="1">
                <a:solidFill>
                  <a:srgbClr val="FFD166"/>
                </a:solidFill>
                <a:latin typeface="Arial"/>
              </a:defRPr>
            </a:pPr>
            <a:r>
              <a:t>[LOGARITHMIC PROOFS]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16 Leaves: Build 0.08 ms | Proof 0.015 ms | Verify 0.025 ms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64 Leaves: Build 0.11 ms | Proof 0.012 ms | Verify 0.019 ms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256 Leaves: Build 0.40 ms | Proof 0.014 ms | Verify 0.019 ms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1,024 Leaves: Build 1.96 ms | Proof 0.018 ms | Verify 0.026 ms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Analysis: Verification time remains flat at ~0.02 ms (O(log N)).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977639"/>
            <a:ext cx="5212080" cy="233172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160519"/>
            <a:ext cx="484632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Arial"/>
              </a:defRPr>
            </a:pPr>
            <a:r>
              <a:t>Sorting Algorithm Speedup Analysis</a:t>
            </a:r>
          </a:p>
          <a:p>
            <a:pPr>
              <a:spcAft>
                <a:spcPts val="400"/>
              </a:spcAft>
              <a:defRPr sz="950" b="1">
                <a:solidFill>
                  <a:srgbClr val="FFD166"/>
                </a:solidFill>
                <a:latin typeface="Arial"/>
              </a:defRPr>
            </a:pPr>
            <a:r>
              <a:t>[SORTING BENCHMARKS]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100 Elements: Merge Sort 0.61 ms vs Quick Sort 0.18 ms (3.3x speedup)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1,000 Elements: Merge Sort 4.24 ms vs Quick Sort 1.71 ms (2.5x speedup)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5,000 Elements: Merge Sort 18.29 ms vs Quick Sort 9.83 ms (1.9x speedup)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Analysis: Quick Sort offers faster raw sorting; Merge Sort preserves audit stability.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0E5FF"/>
                </a:solidFill>
                <a:latin typeface="Arial"/>
              </a:defRPr>
            </a:pPr>
            <a:r>
              <a:t>GUIDELINE SECTION B.IV.7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14. Comparative Analysis of Alternative Algorithms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98448"/>
            <a:ext cx="10725912" cy="18288"/>
          </a:xfrm>
          <a:prstGeom prst="rect">
            <a:avLst/>
          </a:prstGeom>
          <a:solidFill>
            <a:srgbClr val="3A506B"/>
          </a:solidFill>
          <a:ln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120640" cy="233172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47548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0E5FF"/>
                </a:solidFill>
                <a:latin typeface="Arial"/>
              </a:defRPr>
            </a:pPr>
            <a:r>
              <a:t>Merge Sort vs Quick Sort (Median-of-3)</a:t>
            </a:r>
          </a:p>
          <a:p>
            <a:pPr>
              <a:spcAft>
                <a:spcPts val="400"/>
              </a:spcAft>
              <a:defRPr sz="950" b="1">
                <a:solidFill>
                  <a:srgbClr val="FFD166"/>
                </a:solidFill>
                <a:latin typeface="Arial"/>
              </a:defRPr>
            </a:pPr>
            <a:r>
              <a:t>[SORTING SELECTION]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Merge Sort: Guaranteed O(N log N) in all cases, stable ordering for identical audit timestamps, requires O(N) auxiliary memory.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Quick Sort: In-place O(log N) memory, faster cache locality, but potentially O(N^2) worst case without median-of-three pivot.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System Choice: Quick Sort for live candidate rankings; Merge Sort for chronological audit trails.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08760"/>
            <a:ext cx="5212080" cy="233172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91640"/>
            <a:ext cx="484632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A78BFA"/>
                </a:solidFill>
                <a:latin typeface="Arial"/>
              </a:defRPr>
            </a:pPr>
            <a:r>
              <a:t>Hash Table vs AVL Tree for Block Lookup</a:t>
            </a:r>
          </a:p>
          <a:p>
            <a:pPr>
              <a:spcAft>
                <a:spcPts val="400"/>
              </a:spcAft>
              <a:defRPr sz="950" b="1">
                <a:solidFill>
                  <a:srgbClr val="FFD166"/>
                </a:solidFill>
                <a:latin typeface="Arial"/>
              </a:defRPr>
            </a:pPr>
            <a:r>
              <a:t>[DATA STRUCTURE SELECTION]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Hash Table: Average O(1) lookup, but does not support range queries or sorted chronological iteration.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AVL Tree: Guaranteed O(log N) lookup, height-balanced with self-rotations, allows fast range queries over block heights.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System Choice: Hash Table for token lookups; AVL Tree for indexed block height verification.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77639"/>
            <a:ext cx="5120640" cy="233172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160519"/>
            <a:ext cx="47548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FFD166"/>
                </a:solidFill>
                <a:latin typeface="Arial"/>
              </a:defRPr>
            </a:pPr>
            <a:r>
              <a:t>Merkle Inclusion Proofs vs Full-Ledger Scan</a:t>
            </a:r>
          </a:p>
          <a:p>
            <a:pPr>
              <a:spcAft>
                <a:spcPts val="400"/>
              </a:spcAft>
              <a:defRPr sz="950" b="1">
                <a:solidFill>
                  <a:srgbClr val="FFD166"/>
                </a:solidFill>
                <a:latin typeface="Arial"/>
              </a:defRPr>
            </a:pPr>
            <a:r>
              <a:t>[AUDIT SCALABILITY]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Full Ledger Scan: Requires downloading entire blockchain O(N) to prove a vote exists; exposes all other voter ballots.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Merkle Proof: Lightweight audit receipt requiring only O(log N) hashes; zero exposure of neighboring ballots.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System Choice: Merkle Tree provides zero-knowledge ballot verification for resource-constrained voter phones.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977639"/>
            <a:ext cx="5212080" cy="233172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160519"/>
            <a:ext cx="484632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Arial"/>
              </a:defRPr>
            </a:pPr>
            <a:r>
              <a:t>Consistent Hashing vs Centralized Modulo Hash</a:t>
            </a:r>
          </a:p>
          <a:p>
            <a:pPr>
              <a:spcAft>
                <a:spcPts val="400"/>
              </a:spcAft>
              <a:defRPr sz="950" b="1">
                <a:solidFill>
                  <a:srgbClr val="FFD166"/>
                </a:solidFill>
                <a:latin typeface="Arial"/>
              </a:defRPr>
            </a:pPr>
            <a:r>
              <a:t>[DISTRIBUTED STORAGE]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Modulo Hashing (Hash(K) mod N): Adding or removing 1 node causes 100% key churn and massive network reshuffling.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Consistent Hashing: Adding or removing a node reassigns only K/N keys, keeping 99% of data localized.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System Choice: Consistent Hashing enables elastic peer joining and dynamic shard distribution.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0E5FF"/>
                </a:solidFill>
                <a:latin typeface="Arial"/>
              </a:defRPr>
            </a:pPr>
            <a:r>
              <a:t>GUIDELINE SECTION B.IV.8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15. Software Architecture &amp; Implementation Details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98448"/>
            <a:ext cx="10725912" cy="18288"/>
          </a:xfrm>
          <a:prstGeom prst="rect">
            <a:avLst/>
          </a:prstGeom>
          <a:solidFill>
            <a:srgbClr val="3A506B"/>
          </a:solidFill>
          <a:ln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383280" cy="475488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3017520" cy="4434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0E5FF"/>
                </a:solidFill>
                <a:latin typeface="Arial"/>
              </a:defRPr>
            </a:pPr>
            <a:r>
              <a:t>Backend Stack</a:t>
            </a:r>
          </a:p>
          <a:p>
            <a:pPr>
              <a:spcAft>
                <a:spcPts val="400"/>
              </a:spcAft>
              <a:defRPr sz="950" b="1">
                <a:solidFill>
                  <a:srgbClr val="FFD166"/>
                </a:solidFill>
                <a:latin typeface="Arial"/>
              </a:defRPr>
            </a:pPr>
            <a:r>
              <a:t>[BACKEND TECH STACK]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Core Language: Python 3.13 (pure standard library + cryptography).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Web Framework: Flask RESTful API engine with CORS support.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Storage Engine: Independent SQLite database per node with WAL mode.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Threading: Background heartbeats and asynchronous peer sync workers.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08760"/>
            <a:ext cx="3383280" cy="475488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691640"/>
            <a:ext cx="3017520" cy="4434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A78BFA"/>
                </a:solidFill>
                <a:latin typeface="Arial"/>
              </a:defRPr>
            </a:pPr>
            <a:r>
              <a:t>Frontend &amp; Portal</a:t>
            </a:r>
          </a:p>
          <a:p>
            <a:pPr>
              <a:spcAft>
                <a:spcPts val="400"/>
              </a:spcAft>
              <a:defRPr sz="950" b="1">
                <a:solidFill>
                  <a:srgbClr val="FFD166"/>
                </a:solidFill>
                <a:latin typeface="Arial"/>
              </a:defRPr>
            </a:pPr>
            <a:r>
              <a:t>[USER INTERFACES]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Voter Web UI: Modern responsive portal (voting_ui.py) on port 5050.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Live Explorer: Visual block inspector, Merkle proof validator, and candidate tally charts.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25 DSA Laboratory: Interactive UI page (dsa.html) demonstrating all 25 concepts live.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Security: Protection against session fixation and CSRF.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08760"/>
            <a:ext cx="3383280" cy="475488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691640"/>
            <a:ext cx="3017520" cy="4434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Arial"/>
              </a:defRPr>
            </a:pPr>
            <a:r>
              <a:t>Deployment Topology</a:t>
            </a:r>
          </a:p>
          <a:p>
            <a:pPr>
              <a:spcAft>
                <a:spcPts val="400"/>
              </a:spcAft>
              <a:defRPr sz="950" b="1">
                <a:solidFill>
                  <a:srgbClr val="FFD166"/>
                </a:solidFill>
                <a:latin typeface="Arial"/>
              </a:defRPr>
            </a:pPr>
            <a:r>
              <a:t>[3-NODE CLUSTER]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Node A (5001): Genesis coordinator, consensus proposer.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Node B (5002): Peer validator, shard replica.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Node C (5003): Peer validator, shard replica.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LAN Ready: Binds to 0.0.0.0 for multi-computer Wi-Fi demo.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0E5FF"/>
                </a:solidFill>
                <a:latin typeface="Arial"/>
              </a:defRPr>
            </a:pPr>
            <a:r>
              <a:t>GUIDELINE SECTION B.V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16. Results &amp; Security Discussion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98448"/>
            <a:ext cx="10725912" cy="18288"/>
          </a:xfrm>
          <a:prstGeom prst="rect">
            <a:avLst/>
          </a:prstGeom>
          <a:solidFill>
            <a:srgbClr val="3A506B"/>
          </a:solidFill>
          <a:ln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120640" cy="233172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47548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Arial"/>
              </a:defRPr>
            </a:pPr>
            <a:r>
              <a:t>100% Automated Test Suite Pass Rate</a:t>
            </a:r>
          </a:p>
          <a:p>
            <a:pPr>
              <a:spcAft>
                <a:spcPts val="400"/>
              </a:spcAft>
              <a:defRPr sz="950" b="1">
                <a:solidFill>
                  <a:srgbClr val="FFD166"/>
                </a:solidFill>
                <a:latin typeface="Arial"/>
              </a:defRPr>
            </a:pPr>
            <a:r>
              <a:t>[QUALITY ASSURANCE]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25 automated pytest suites passing across all DSA implementations.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Exhaustive coverage of edge cases (empty trees, hash collisions, tree rotations, graph cycles, ring wraparounds).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Consensus stress tested under simulated node crashes and network drops.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08760"/>
            <a:ext cx="5212080" cy="233172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91640"/>
            <a:ext cx="484632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0E5FF"/>
                </a:solidFill>
                <a:latin typeface="Arial"/>
              </a:defRPr>
            </a:pPr>
            <a:r>
              <a:t>Tamper Evident Ledger Verification</a:t>
            </a:r>
          </a:p>
          <a:p>
            <a:pPr>
              <a:spcAft>
                <a:spcPts val="400"/>
              </a:spcAft>
              <a:defRPr sz="950" b="1">
                <a:solidFill>
                  <a:srgbClr val="FFD166"/>
                </a:solidFill>
                <a:latin typeface="Arial"/>
              </a:defRPr>
            </a:pPr>
            <a:r>
              <a:t>[IMMUTABILITY PROOF]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Modifying a single bit inside an accepted ballot instantly alters its SHA-256 hash.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Subsequent block previous_hash validation fails immediately across all 3 nodes.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Merkle inclusion proof recalculation detects leaf tampering in O(log N) time.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77639"/>
            <a:ext cx="5120640" cy="233172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160519"/>
            <a:ext cx="47548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FFD166"/>
                </a:solidFill>
                <a:latin typeface="Arial"/>
              </a:defRPr>
            </a:pPr>
            <a:r>
              <a:t>Zero Duplicate Ballots Allowed</a:t>
            </a:r>
          </a:p>
          <a:p>
            <a:pPr>
              <a:spcAft>
                <a:spcPts val="400"/>
              </a:spcAft>
              <a:defRPr sz="950" b="1">
                <a:solidFill>
                  <a:srgbClr val="FFD166"/>
                </a:solidFill>
                <a:latin typeface="Arial"/>
              </a:defRPr>
            </a:pPr>
            <a:r>
              <a:t>[INTEGRITY ENFORCEMENT]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HashSet in-memory screening catches double-vote attempts in &lt; 1 microsecond.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SQLite atomic UNIQUE(voter_id, election_id) constraint prevents race condition attacks.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Zero duplicate votes accepted across 5,000 synthetic test ballots.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977639"/>
            <a:ext cx="5212080" cy="233172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160519"/>
            <a:ext cx="484632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A78BFA"/>
                </a:solidFill>
                <a:latin typeface="Arial"/>
              </a:defRPr>
            </a:pPr>
            <a:r>
              <a:t>Graceful Partition Handling</a:t>
            </a:r>
          </a:p>
          <a:p>
            <a:pPr>
              <a:spcAft>
                <a:spcPts val="400"/>
              </a:spcAft>
              <a:defRPr sz="950" b="1">
                <a:solidFill>
                  <a:srgbClr val="FFD166"/>
                </a:solidFill>
                <a:latin typeface="Arial"/>
              </a:defRPr>
            </a:pPr>
            <a:r>
              <a:t>[FAULT RESILIENCE]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When 1 node disconnects, remaining 2 nodes maintain quorum (Q &gt;= 2/3) and continue mining.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When 2 nodes disconnect, consensus halts safely; transactions remain safely in Mempool Queue.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Zero ledger forks or orphan inconsistencies generated.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0E5FF"/>
                </a:solidFill>
                <a:latin typeface="Arial"/>
              </a:defRPr>
            </a:pPr>
            <a:r>
              <a:t>GUIDELINE SECTION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17. Demonstration Instructions &amp; Reproduction Guide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98448"/>
            <a:ext cx="10725912" cy="18288"/>
          </a:xfrm>
          <a:prstGeom prst="rect">
            <a:avLst/>
          </a:prstGeom>
          <a:solidFill>
            <a:srgbClr val="3A506B"/>
          </a:solidFill>
          <a:ln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383280" cy="475488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3017520" cy="4434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0E5FF"/>
                </a:solidFill>
                <a:latin typeface="Arial"/>
              </a:defRPr>
            </a:pPr>
            <a:r>
              <a:t>Step 1: Start 3 Nodes</a:t>
            </a:r>
          </a:p>
          <a:p>
            <a:pPr>
              <a:spcAft>
                <a:spcPts val="400"/>
              </a:spcAft>
              <a:defRPr sz="950" b="1">
                <a:solidFill>
                  <a:srgbClr val="FFD166"/>
                </a:solidFill>
                <a:latin typeface="Arial"/>
              </a:defRPr>
            </a:pPr>
            <a:r>
              <a:t>[NETWORK LAUNCH]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Option A: Automated Launcher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python3 scripts/start_local_network.py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Option B: Manual Terminals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Term 1: python3 app.py --node-id node_a --port 5001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Term 2: python3 app.py --node-id node_b --port 5002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Term 3: python3 app.py --node-id node_c --port 5003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08760"/>
            <a:ext cx="3383280" cy="475488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691640"/>
            <a:ext cx="3017520" cy="4434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A78BFA"/>
                </a:solidFill>
                <a:latin typeface="Arial"/>
              </a:defRPr>
            </a:pPr>
            <a:r>
              <a:t>Step 2: Seed &amp; Run UI</a:t>
            </a:r>
          </a:p>
          <a:p>
            <a:pPr>
              <a:spcAft>
                <a:spcPts val="400"/>
              </a:spcAft>
              <a:defRPr sz="950" b="1">
                <a:solidFill>
                  <a:srgbClr val="FFD166"/>
                </a:solidFill>
                <a:latin typeface="Arial"/>
              </a:defRPr>
            </a:pPr>
            <a:r>
              <a:t>[VOTING WORKFLOW]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Register Demo Voters: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python3 scripts/register_demo_voters.py http://127.0.0.1:5001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Launch Voter Portal UI: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python3 voting_ui.py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Open browser at: http://127.0.0.1:5050/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Test casting votes, viewing receipts, and validating Merkle paths.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08760"/>
            <a:ext cx="3383280" cy="475488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691640"/>
            <a:ext cx="3017520" cy="4434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Arial"/>
              </a:defRPr>
            </a:pPr>
            <a:r>
              <a:t>Step 3: Verification</a:t>
            </a:r>
          </a:p>
          <a:p>
            <a:pPr>
              <a:spcAft>
                <a:spcPts val="400"/>
              </a:spcAft>
              <a:defRPr sz="950" b="1">
                <a:solidFill>
                  <a:srgbClr val="FFD166"/>
                </a:solidFill>
                <a:latin typeface="Arial"/>
              </a:defRPr>
            </a:pPr>
            <a:r>
              <a:t>[VERIFICATION]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Run Full Test Suite: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pytest tests/ -v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Run 20-Step Demo Script: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python3 scripts/demo_local_network.py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Inspect DSA Lab: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Open http://127.0.0.1:5001/dsa for live execution of all 25 algorithms.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0E5FF"/>
                </a:solidFill>
                <a:latin typeface="Arial"/>
              </a:defRPr>
            </a:pPr>
            <a:r>
              <a:t>GUIDELINE SECTION B.VI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18. Conclusion &amp; Future Enhancements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98448"/>
            <a:ext cx="10725912" cy="18288"/>
          </a:xfrm>
          <a:prstGeom prst="rect">
            <a:avLst/>
          </a:prstGeom>
          <a:solidFill>
            <a:srgbClr val="3A506B"/>
          </a:solidFill>
          <a:ln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120640" cy="475488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4754880" cy="4434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0E5FF"/>
                </a:solidFill>
                <a:latin typeface="Arial"/>
              </a:defRPr>
            </a:pPr>
            <a:r>
              <a:t>Project Conclusions</a:t>
            </a:r>
          </a:p>
          <a:p>
            <a:pPr>
              <a:spcAft>
                <a:spcPts val="400"/>
              </a:spcAft>
              <a:defRPr sz="950" b="1">
                <a:solidFill>
                  <a:srgbClr val="FFD166"/>
                </a:solidFill>
                <a:latin typeface="Arial"/>
              </a:defRPr>
            </a:pPr>
            <a:r>
              <a:t>[CORE ACCOMPLISHMENTS]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Proof of Feasibility: Successfully demonstrated that a production-grade decentralized voting system can be engineered from first-principles Data Structures &amp; Algorithms without proprietary blockchain frameworks.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Algorithmic Precision: Deterministic DSA modules provide absolute audit guarantees and mathematical correctness that AI/ML models fundamentally cannot offer.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Decoupled Privacy: Proved that ballot anonymity and strict single-vote verification can coexist through single-use authorization token burn.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Real-World Portability: Seamless operation on both single-machine local simulation and multi-computer physical Wi-Fi networks.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08760"/>
            <a:ext cx="5212080" cy="475488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91640"/>
            <a:ext cx="4846320" cy="4434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FFD166"/>
                </a:solidFill>
                <a:latin typeface="Arial"/>
              </a:defRPr>
            </a:pPr>
            <a:r>
              <a:t>Future Enhancements</a:t>
            </a:r>
          </a:p>
          <a:p>
            <a:pPr>
              <a:spcAft>
                <a:spcPts val="400"/>
              </a:spcAft>
              <a:defRPr sz="950" b="1">
                <a:solidFill>
                  <a:srgbClr val="FFD166"/>
                </a:solidFill>
                <a:latin typeface="Arial"/>
              </a:defRPr>
            </a:pPr>
            <a:r>
              <a:t>[NEXT STEPS]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Zero-Knowledge Proofs (zk-SNARKs): Enable voters to prove their ballot satisfies eligibility constraints without revealing any token or cryptographic receipt.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Byzantine Fault Tolerance (PBFT / Raft): Upgrade leader-quorum consensus to handle malicious, actively colluding Byzantine nodes.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Kademlia Distributed Hash Table (DHT): Implement XOR metric peer discovery to scale network from 3 nodes to tens of thousands of decentralized nodes.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Post-Quantum Cryptography: Migrate from ECDSA SECP256R1 to lattice-based signatures (e.g. CRYSTALS-Dilithium) to resist quantum decryption.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0E5FF"/>
                </a:solidFill>
                <a:latin typeface="Arial"/>
              </a:defRPr>
            </a:pPr>
            <a:r>
              <a:t>GUIDELINE SECTION B.VII &amp; B.VIII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19. References &amp; Project Contributors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98448"/>
            <a:ext cx="10725912" cy="18288"/>
          </a:xfrm>
          <a:prstGeom prst="rect">
            <a:avLst/>
          </a:prstGeom>
          <a:solidFill>
            <a:srgbClr val="3A506B"/>
          </a:solidFill>
          <a:ln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486400" cy="475488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5120640" cy="4434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A78BFA"/>
                </a:solidFill>
                <a:latin typeface="Arial"/>
              </a:defRPr>
            </a:pPr>
            <a:r>
              <a:t>Academic &amp; Algorithmic References</a:t>
            </a:r>
          </a:p>
          <a:p>
            <a:pPr>
              <a:spcAft>
                <a:spcPts val="400"/>
              </a:spcAft>
              <a:defRPr sz="950" b="1">
                <a:solidFill>
                  <a:srgbClr val="FFD166"/>
                </a:solidFill>
                <a:latin typeface="Arial"/>
              </a:defRPr>
            </a:pPr>
            <a:r>
              <a:t>[FOUNDATIONAL LITERATURE]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1. Nakamoto, S. (2008). Bitcoin: A Peer-to-Peer Electronic Cash System.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2. Merkle, R. C. (1987). A Digital Signature Based on a Conventional Encryption Function. CRYPTO '87, pp. 369-378.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3. Karger, D., et al. (1997). Consistent Hashing and Random Trees: Distributed Caching Protocols for Relieving Hot Spots on the World Wide Web. ACM STOC.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4. Cormen, T. H., Leiserson, C. E., Rivest, R. L., &amp; Stein, C. (2009). Introduction to Algorithms (3rd ed.). MIT Press.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5. Chaum, D. (1981). Untraceable Electronic Mail, Return Addresses, and Digital Pseudonyms. Communications of the ACM, 24(2), 84-90.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1508760"/>
            <a:ext cx="4846320" cy="475488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0" y="1691640"/>
            <a:ext cx="4480560" cy="4434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Arial"/>
              </a:defRPr>
            </a:pPr>
            <a:r>
              <a:t>Project Contributors &amp; Repository</a:t>
            </a:r>
          </a:p>
          <a:p>
            <a:pPr>
              <a:spcAft>
                <a:spcPts val="400"/>
              </a:spcAft>
              <a:defRPr sz="950" b="1">
                <a:solidFill>
                  <a:srgbClr val="FFD166"/>
                </a:solidFill>
                <a:latin typeface="Arial"/>
              </a:defRPr>
            </a:pPr>
            <a:r>
              <a:t>[TEAM &amp; METADATA]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Lead Developer &amp; Architect: Nawin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Registered Email: kgnawinkg@gmail.com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GitHub Profile: https://github.com/kgnawinkg-tech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Project Repository: https://github.com/kgnawinkg-tech/Decentralised-Voting-System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Course: Data Structures and Algorithms Capstone Project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Implementation Language: Python 3.13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DSA Concepts Covered: 25 Modules (100% Implemented &amp; Tested)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